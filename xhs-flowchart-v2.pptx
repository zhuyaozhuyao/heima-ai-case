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411480"/>
            <a:ext cx="1380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62626"/>
                </a:solidFill>
              </a:rPr>
              <a:t>① 拿量有问题 — 排查决策树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3807440" cy="45720"/>
          </a:xfrm>
          <a:prstGeom prst="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61288"/>
            <a:ext cx="1380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7A47"/>
                </a:solidFill>
              </a:rPr>
              <a:t>短期波动（不起量/掉量）· 长期明显下滑，按路径逐步排查，所有路径最终汇聚至品牌生意增长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1828800" cy="457200"/>
          </a:xfrm>
          <a:prstGeom prst="roundRect">
            <a:avLst/>
          </a:prstGeom>
          <a:solidFill>
            <a:srgbClr val="1A7A47"/>
          </a:solidFill>
          <a:ln w="15240">
            <a:solidFill>
              <a:srgbClr val="1A7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拿量有问题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0" y="2148840"/>
            <a:ext cx="0" cy="512064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6217920" y="2660904"/>
            <a:ext cx="2194560" cy="594360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7A47"/>
                </a:solidFill>
                <a:latin typeface="微软雅黑"/>
              </a:rPr>
              <a:t>短期波动
or
长期没路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31720" y="2958084"/>
            <a:ext cx="3886200" cy="0"/>
          </a:xfrm>
          <a:prstGeom prst="line">
            <a:avLst/>
          </a:prstGeom>
          <a:ln w="19050">
            <a:solidFill>
              <a:srgbClr val="1A7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502920" y="2683764"/>
            <a:ext cx="1828800" cy="548640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7A47"/>
                </a:solidFill>
                <a:latin typeface="微软雅黑"/>
              </a:rPr>
              <a:t>不起量
or 掉量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5691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短期波动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0" y="2958084"/>
            <a:ext cx="3794760" cy="0"/>
          </a:xfrm>
          <a:prstGeom prst="line">
            <a:avLst/>
          </a:prstGeom>
          <a:ln w="19050">
            <a:solidFill>
              <a:srgbClr val="1A7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58200" y="275691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长期没路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07240" y="2706624"/>
            <a:ext cx="1828800" cy="502920"/>
          </a:xfrm>
          <a:prstGeom prst="rect">
            <a:avLst/>
          </a:prstGeom>
          <a:solidFill>
            <a:srgbClr val="34C376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量越投越少
成本越投越高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" y="3232404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2232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不起量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34156"/>
            <a:ext cx="1417320" cy="438912"/>
          </a:xfrm>
          <a:prstGeom prst="rect">
            <a:avLst/>
          </a:prstGeom>
          <a:solidFill>
            <a:srgbClr val="1A7A47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不起量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65860" y="3973068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mond 18"/>
          <p:cNvSpPr/>
          <p:nvPr/>
        </p:nvSpPr>
        <p:spPr>
          <a:xfrm>
            <a:off x="457200" y="4229100"/>
            <a:ext cx="155448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出价是否过低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11680" y="4494276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11096" y="423824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76272" y="4274820"/>
            <a:ext cx="14173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对标城市+细分
赛道 benchmark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34440" y="4759452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07592" y="47503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25" name="Diamond 24"/>
          <p:cNvSpPr/>
          <p:nvPr/>
        </p:nvSpPr>
        <p:spPr>
          <a:xfrm>
            <a:off x="457200" y="5015484"/>
            <a:ext cx="155448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单元笔记数量
是否&lt;3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011680" y="5280660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11096" y="5024628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272" y="5061204"/>
            <a:ext cx="14173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单元内理想
笔记数 5-6篇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34440" y="5545836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07592" y="55366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31" name="Diamond 30"/>
          <p:cNvSpPr/>
          <p:nvPr/>
        </p:nvSpPr>
        <p:spPr>
          <a:xfrm>
            <a:off x="457200" y="5801868"/>
            <a:ext cx="155448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定向是否过窄
(人群量&lt;100w)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011680" y="6067044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11096" y="58110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76272" y="5847588"/>
            <a:ext cx="14173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成本地域相近
城市打包投放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34440" y="6332220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07592" y="63230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588252"/>
            <a:ext cx="1417320" cy="482803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人群包+词包
定向投放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65860" y="7071055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iamond 38"/>
          <p:cNvSpPr/>
          <p:nvPr/>
        </p:nvSpPr>
        <p:spPr>
          <a:xfrm>
            <a:off x="457200" y="7327087"/>
            <a:ext cx="155448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优化目标
是否过深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11680" y="7592263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11096" y="733623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76272" y="7372807"/>
            <a:ext cx="1417320" cy="438912"/>
          </a:xfrm>
          <a:prstGeom prst="rect">
            <a:avLst/>
          </a:prstGeom>
          <a:solidFill>
            <a:srgbClr val="34C376"/>
          </a:solidFill>
          <a:ln w="15240">
            <a:solidFill>
              <a:srgbClr val="1A7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退阶投放法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234440" y="7857439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307592" y="7848295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45" name="Diamond 44"/>
          <p:cNvSpPr/>
          <p:nvPr/>
        </p:nvSpPr>
        <p:spPr>
          <a:xfrm>
            <a:off x="457200" y="8113471"/>
            <a:ext cx="155448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调整后仍不起量?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011680" y="8378647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911096" y="8122615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76272" y="8159191"/>
            <a:ext cx="14173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2轮后仍无改善
换封面标题重跑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234440" y="8643823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07592" y="8634679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874520" y="3232404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947672" y="32232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掉量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31820" y="3534156"/>
            <a:ext cx="1417320" cy="438912"/>
          </a:xfrm>
          <a:prstGeom prst="rect">
            <a:avLst/>
          </a:prstGeom>
          <a:solidFill>
            <a:srgbClr val="1A7A47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掉量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840480" y="3973068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Diamond 54"/>
          <p:cNvSpPr/>
          <p:nvPr/>
        </p:nvSpPr>
        <p:spPr>
          <a:xfrm>
            <a:off x="3131820" y="4229100"/>
            <a:ext cx="155448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余额/预算
是否充足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686300" y="4494276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85716" y="423824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50892" y="4256532"/>
            <a:ext cx="14630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账户余额充足
预算=成本×10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909060" y="4759452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982212" y="47503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61" name="Diamond 60"/>
          <p:cNvSpPr/>
          <p:nvPr/>
        </p:nvSpPr>
        <p:spPr>
          <a:xfrm>
            <a:off x="3131820" y="5015484"/>
            <a:ext cx="155448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有无频繁
负向操作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686300" y="5280660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585716" y="5024628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50892" y="5042916"/>
            <a:ext cx="14630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停暂/降预算
是负向操作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909060" y="5545836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982212" y="55366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67" name="Diamond 66"/>
          <p:cNvSpPr/>
          <p:nvPr/>
        </p:nvSpPr>
        <p:spPr>
          <a:xfrm>
            <a:off x="3131820" y="5801868"/>
            <a:ext cx="155448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重复素材
是否较多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686300" y="6067044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585716" y="581101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50892" y="5829300"/>
            <a:ext cx="14630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1篇笔记≤3个
重叠计划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909060" y="6332220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982212" y="63230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73" name="Diamond 72"/>
          <p:cNvSpPr/>
          <p:nvPr/>
        </p:nvSpPr>
        <p:spPr>
          <a:xfrm>
            <a:off x="3131820" y="6588252"/>
            <a:ext cx="155448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连续4天低消耗
(CTR同步下跌)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686300" y="6853428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585716" y="6597396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50892" y="6615684"/>
            <a:ext cx="1463040" cy="475488"/>
          </a:xfrm>
          <a:prstGeom prst="rect">
            <a:avLst/>
          </a:prstGeom>
          <a:solidFill>
            <a:srgbClr val="34C376"/>
          </a:solidFill>
          <a:ln w="15240">
            <a:solidFill>
              <a:srgbClr val="1A7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计划层面
关停新建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909060" y="7118604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982212" y="71094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31820" y="7374636"/>
            <a:ext cx="14173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微软雅黑"/>
              </a:rPr>
              <a:t>继续运行观察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3121640" y="3209544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2207240" y="3465576"/>
            <a:ext cx="16002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分析人群重叠
持续完善账号矩阵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3121640" y="3968496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Diamond 82"/>
          <p:cNvSpPr/>
          <p:nvPr/>
        </p:nvSpPr>
        <p:spPr>
          <a:xfrm>
            <a:off x="12207240" y="4224528"/>
            <a:ext cx="164592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账号矩阵
是否过少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3853160" y="4489704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3752576" y="423367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017752" y="4238244"/>
            <a:ext cx="16002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官号vs KOS
触达人群不同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3030200" y="4754880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3103352" y="474573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89" name="Diamond 88"/>
          <p:cNvSpPr/>
          <p:nvPr/>
        </p:nvSpPr>
        <p:spPr>
          <a:xfrm>
            <a:off x="12207240" y="5010912"/>
            <a:ext cx="164592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笔记形式
是否单一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3853160" y="5276088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3752576" y="5020056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017752" y="5024628"/>
            <a:ext cx="16002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视频/图文
多样化形式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3030200" y="5541264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3103352" y="55321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95" name="Diamond 94"/>
          <p:cNvSpPr/>
          <p:nvPr/>
        </p:nvSpPr>
        <p:spPr>
          <a:xfrm>
            <a:off x="12207240" y="5797296"/>
            <a:ext cx="164592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内容方向
是否单一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3853160" y="6062472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3752576" y="580644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4017752" y="5811012"/>
            <a:ext cx="16002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by人群/地域
切分内容方向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3030200" y="6327648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3103352" y="631850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101" name="Diamond 100"/>
          <p:cNvSpPr/>
          <p:nvPr/>
        </p:nvSpPr>
        <p:spPr>
          <a:xfrm>
            <a:off x="12207240" y="6583680"/>
            <a:ext cx="164592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是否只投客资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3853160" y="6848856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3752576" y="659282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4017752" y="6597396"/>
            <a:ext cx="16002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10%种草预算
打开人群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3030200" y="7114032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3103352" y="71048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09360" y="7342632"/>
            <a:ext cx="2011680" cy="438912"/>
          </a:xfrm>
          <a:prstGeom prst="roundRect">
            <a:avLst/>
          </a:prstGeom>
          <a:solidFill>
            <a:srgbClr val="1A7A47"/>
          </a:solidFill>
          <a:ln w="15240">
            <a:solidFill>
              <a:srgbClr val="1A7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品牌生意增长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411480"/>
            <a:ext cx="1380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62626"/>
                </a:solidFill>
              </a:rPr>
              <a:t>② 成本有问题 — 排查决策树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3807440" cy="45720"/>
          </a:xfrm>
          <a:prstGeom prst="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61288"/>
            <a:ext cx="1380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7A47"/>
                </a:solidFill>
              </a:rPr>
              <a:t>前链路（空耗/超成本）· 后链路（留资后效差），按路径逐步排查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1828800" cy="457200"/>
          </a:xfrm>
          <a:prstGeom prst="roundRect">
            <a:avLst/>
          </a:prstGeom>
          <a:solidFill>
            <a:srgbClr val="1A7A47"/>
          </a:solidFill>
          <a:ln w="15240">
            <a:solidFill>
              <a:srgbClr val="1A7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成本有问题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0" y="2148840"/>
            <a:ext cx="0" cy="512064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6309360" y="2660904"/>
            <a:ext cx="2011680" cy="594360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7A47"/>
                </a:solidFill>
                <a:latin typeface="微软雅黑"/>
              </a:rPr>
              <a:t>前链路
or
后链路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286000" y="2958084"/>
            <a:ext cx="4023360" cy="0"/>
          </a:xfrm>
          <a:prstGeom prst="line">
            <a:avLst/>
          </a:prstGeom>
          <a:ln w="19050">
            <a:solidFill>
              <a:srgbClr val="1A7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31720" y="2756916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前链路</a:t>
            </a:r>
          </a:p>
        </p:txBody>
      </p:sp>
      <p:sp>
        <p:nvSpPr>
          <p:cNvPr id="11" name="Diamond 10"/>
          <p:cNvSpPr/>
          <p:nvPr/>
        </p:nvSpPr>
        <p:spPr>
          <a:xfrm>
            <a:off x="457200" y="2683764"/>
            <a:ext cx="1828800" cy="548640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7A47"/>
                </a:solidFill>
                <a:latin typeface="微软雅黑"/>
              </a:rPr>
              <a:t>空耗
or 超成本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2958084"/>
            <a:ext cx="3977640" cy="0"/>
          </a:xfrm>
          <a:prstGeom prst="line">
            <a:avLst/>
          </a:prstGeom>
          <a:ln w="19050">
            <a:solidFill>
              <a:srgbClr val="1A7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66760" y="2756916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后链路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98680" y="2706624"/>
            <a:ext cx="1828800" cy="502920"/>
          </a:xfrm>
          <a:prstGeom prst="rect">
            <a:avLst/>
          </a:prstGeom>
          <a:solidFill>
            <a:srgbClr val="34C376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留资后效差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232404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32232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空耗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88436"/>
            <a:ext cx="1463040" cy="457200"/>
          </a:xfrm>
          <a:prstGeom prst="rect">
            <a:avLst/>
          </a:prstGeom>
          <a:solidFill>
            <a:srgbClr val="1A7A47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空耗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720" y="3945636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mond 18"/>
          <p:cNvSpPr/>
          <p:nvPr/>
        </p:nvSpPr>
        <p:spPr>
          <a:xfrm>
            <a:off x="457200" y="4201668"/>
            <a:ext cx="1600200" cy="548640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开口计划
占绝大多数?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57400" y="4475988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56816" y="4219956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1992" y="4155948"/>
            <a:ext cx="14630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'1+1投放法'
50-70%开口
+30-50%留资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57300" y="4750308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30452" y="47411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06340"/>
            <a:ext cx="14630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优先关停开口计划
保留留资计划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88720" y="5554980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7200" y="5811012"/>
            <a:ext cx="1463040" cy="457200"/>
          </a:xfrm>
          <a:prstGeom prst="rect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7A47"/>
                </a:solidFill>
                <a:latin typeface="微软雅黑"/>
              </a:rPr>
              <a:t>白盒工具排查漏斗
模型高估工单提报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28800" y="3232404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01952" y="32232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超成本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86100" y="3488436"/>
            <a:ext cx="1463040" cy="457200"/>
          </a:xfrm>
          <a:prstGeom prst="rect">
            <a:avLst/>
          </a:prstGeom>
          <a:solidFill>
            <a:srgbClr val="1A7A47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超成本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17620" y="3945636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3086100" y="4201668"/>
            <a:ext cx="1600200" cy="548640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是否已过
赔付期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686300" y="4475988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85716" y="4219956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50892" y="4174236"/>
            <a:ext cx="1463040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连续3天超成本
关停新建
吃到赔付规则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750308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959352" y="474116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86100" y="5006340"/>
            <a:ext cx="14630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继续跑量观察
当天超2倍出价关停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17620" y="5463540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086100" y="5719572"/>
            <a:ext cx="1463040" cy="566928"/>
          </a:xfrm>
          <a:prstGeom prst="rect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7A47"/>
                </a:solidFill>
                <a:latin typeface="微软雅黑"/>
              </a:rPr>
              <a:t>1计划+1单元
+5笔记
内容×定向组合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213080" y="3209544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/>
          <p:cNvSpPr/>
          <p:nvPr/>
        </p:nvSpPr>
        <p:spPr>
          <a:xfrm>
            <a:off x="12298680" y="3465576"/>
            <a:ext cx="164592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响应是否过慢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3944600" y="3730752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3844016" y="347472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109192" y="3502152"/>
            <a:ext cx="16002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15s首响/30s回复
提升至85%+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3121640" y="3995928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3194792" y="3986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48" name="Diamond 47"/>
          <p:cNvSpPr/>
          <p:nvPr/>
        </p:nvSpPr>
        <p:spPr>
          <a:xfrm>
            <a:off x="12298680" y="4251960"/>
            <a:ext cx="164592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留资用户需求
是否偏离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944600" y="4517136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844016" y="426110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109192" y="4288536"/>
            <a:ext cx="16002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特定人群排除包
封面标题醒目提示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3121640" y="4782312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3194792" y="47731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298680" y="5038344"/>
            <a:ext cx="1600200" cy="457200"/>
          </a:xfrm>
          <a:prstGeom prst="rect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7A47"/>
                </a:solidFill>
                <a:latin typeface="微软雅黑"/>
              </a:rPr>
              <a:t>连续3天需求偏离
计划关停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3121640" y="5495544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Diamond 55"/>
          <p:cNvSpPr/>
          <p:nvPr/>
        </p:nvSpPr>
        <p:spPr>
          <a:xfrm>
            <a:off x="12298680" y="5751576"/>
            <a:ext cx="1645920" cy="530352"/>
          </a:xfrm>
          <a:prstGeom prst="diamond">
            <a:avLst/>
          </a:prstGeom>
          <a:solidFill>
            <a:srgbClr val="D6F5E3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7A47"/>
                </a:solidFill>
                <a:latin typeface="微软雅黑"/>
              </a:rPr>
              <a:t>用户不到店
不签约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3944600" y="6016752"/>
            <a:ext cx="164592" cy="0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3844016" y="576072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是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109192" y="5788152"/>
            <a:ext cx="16002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34C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微软雅黑"/>
              </a:rPr>
              <a:t>KOS接待流程调优
品牌负面口碑治理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3121640" y="6281928"/>
            <a:ext cx="0" cy="256032"/>
          </a:xfrm>
          <a:prstGeom prst="line">
            <a:avLst/>
          </a:prstGeom>
          <a:ln w="19050">
            <a:solidFill>
              <a:srgbClr val="1A7A4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3194792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88888"/>
                </a:solidFill>
              </a:rPr>
              <a:t>否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9360" y="7342632"/>
            <a:ext cx="2011680" cy="438912"/>
          </a:xfrm>
          <a:prstGeom prst="roundRect">
            <a:avLst/>
          </a:prstGeom>
          <a:solidFill>
            <a:srgbClr val="1A7A47"/>
          </a:solidFill>
          <a:ln w="15240">
            <a:solidFill>
              <a:srgbClr val="1A7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品牌生意提升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