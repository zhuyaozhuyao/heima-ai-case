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411480"/>
            <a:ext cx="1380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62626"/>
                </a:solidFill>
                <a:latin typeface="方正可变兰亭黑"/>
              </a:rPr>
              <a:t>商品笔记投放需遵循四大底线，提高投放效率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45720"/>
          </a:xfrm>
          <a:prstGeom prst="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98448"/>
            <a:ext cx="1380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按日耗量级匹配计划数与笔记数，是保障投放稳定跑量的基础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938528"/>
            <a:ext cx="12527280" cy="768096"/>
          </a:xfrm>
          <a:prstGeom prst="rect">
            <a:avLst/>
          </a:prstGeom>
          <a:solidFill>
            <a:srgbClr val="1A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2011680"/>
            <a:ext cx="29489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方正可变兰亭黑"/>
              </a:rPr>
              <a:t>日均有效计划数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4900" y="2011680"/>
            <a:ext cx="29489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方正可变兰亭黑"/>
              </a:rPr>
              <a:t>日上新计划数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011680"/>
            <a:ext cx="29489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方正可变兰亭黑"/>
              </a:rPr>
              <a:t>日均在投笔记数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8540" y="2011680"/>
            <a:ext cx="29489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方正可变兰亭黑"/>
              </a:rPr>
              <a:t>日上新笔记数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38528"/>
            <a:ext cx="365760" cy="3840480"/>
          </a:xfrm>
          <a:prstGeom prst="rect">
            <a:avLst/>
          </a:prstGeom>
          <a:solidFill>
            <a:srgbClr val="1A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84448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方正可变兰亭黑"/>
              </a:rPr>
              <a:t>日耗量级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706624"/>
            <a:ext cx="12527280" cy="768096"/>
          </a:xfrm>
          <a:prstGeom prst="rect">
            <a:avLst/>
          </a:prstGeom>
          <a:solidFill>
            <a:srgbClr val="D6F5E3"/>
          </a:solidFill>
          <a:ln w="635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798064"/>
            <a:ext cx="777240" cy="585216"/>
          </a:xfrm>
          <a:prstGeom prst="round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779776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≥13条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4900" y="2779776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≥3条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79776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≥20篇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8540" y="2779776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≥7篇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3474720"/>
            <a:ext cx="125272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566160"/>
            <a:ext cx="777240" cy="585216"/>
          </a:xfrm>
          <a:prstGeom prst="round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547872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≥38条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4900" y="3547872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≥8条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547872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≥30篇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8540" y="3547872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≥8篇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4242816"/>
            <a:ext cx="12527280" cy="768096"/>
          </a:xfrm>
          <a:prstGeom prst="rect">
            <a:avLst/>
          </a:prstGeom>
          <a:solidFill>
            <a:srgbClr val="D6F5E3"/>
          </a:solidFill>
          <a:ln w="635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334256"/>
            <a:ext cx="777240" cy="585216"/>
          </a:xfrm>
          <a:prstGeom prst="round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1w+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315968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≥100条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4900" y="4315968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≥15条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315968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≥120篇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8540" y="4315968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≥10篇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5010912"/>
            <a:ext cx="125272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5102352"/>
            <a:ext cx="777240" cy="585216"/>
          </a:xfrm>
          <a:prstGeom prst="round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3w+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084064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≥200条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4900" y="5084064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≥30条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084064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≥250篇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8540" y="5084064"/>
            <a:ext cx="29489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A47"/>
                </a:solidFill>
                <a:latin typeface="方正可变兰亭黑"/>
              </a:rPr>
              <a:t>≥18篇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916168"/>
            <a:ext cx="13807440" cy="475488"/>
          </a:xfrm>
          <a:prstGeom prst="rect">
            <a:avLst/>
          </a:prstGeom>
          <a:solidFill>
            <a:srgbClr val="D6F5E3"/>
          </a:solidFill>
          <a:ln w="1905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62626"/>
                </a:solidFill>
              </a:rPr>
              <a:t>搭建原则：单计划对应</a:t>
            </a:r>
            <a:r>
              <a:rPr sz="1500" b="1">
                <a:solidFill>
                  <a:srgbClr val="FF6B35"/>
                </a:solidFill>
              </a:rPr>
              <a:t>2～5条</a:t>
            </a:r>
            <a:r>
              <a:rPr sz="1500">
                <a:solidFill>
                  <a:srgbClr val="262626"/>
                </a:solidFill>
              </a:rPr>
              <a:t>笔记，1条笔记不要建超过相同</a:t>
            </a:r>
            <a:r>
              <a:rPr sz="1500" b="1">
                <a:solidFill>
                  <a:srgbClr val="FF6B35"/>
                </a:solidFill>
              </a:rPr>
              <a:t>3个</a:t>
            </a:r>
            <a:r>
              <a:rPr sz="1500">
                <a:solidFill>
                  <a:srgbClr val="262626"/>
                </a:solidFill>
              </a:rPr>
              <a:t>计划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501384"/>
            <a:ext cx="13807440" cy="475488"/>
          </a:xfrm>
          <a:prstGeom prst="rect">
            <a:avLst/>
          </a:prstGeom>
          <a:solidFill>
            <a:srgbClr val="D6F5E3"/>
          </a:solidFill>
          <a:ln w="1905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62626"/>
                </a:solidFill>
              </a:rPr>
              <a:t>初始阶段</a:t>
            </a:r>
            <a:r>
              <a:rPr sz="1500" b="1">
                <a:solidFill>
                  <a:srgbClr val="FF6B35"/>
                </a:solidFill>
              </a:rPr>
              <a:t>【全站智投】</a:t>
            </a:r>
            <a:r>
              <a:rPr sz="1500">
                <a:solidFill>
                  <a:srgbClr val="262626"/>
                </a:solidFill>
              </a:rPr>
              <a:t>为主，扩量需搭配搜索+信息流+视频内流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